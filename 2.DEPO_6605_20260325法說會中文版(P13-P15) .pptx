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5"/>
  </p:notesMasterIdLst>
  <p:sldIdLst>
    <p:sldId id="671" r:id="rId2"/>
    <p:sldId id="672" r:id="rId3"/>
    <p:sldId id="673" r:id="rId4"/>
  </p:sldIdLst>
  <p:sldSz cx="12192000" cy="6858000"/>
  <p:notesSz cx="6858000" cy="9144000"/>
  <p:embeddedFontLst>
    <p:embeddedFont>
      <p:font typeface="Calibri Light" panose="020F0302020204030204" pitchFamily="34" charset="0"/>
      <p:regular r:id="rId6"/>
      <p:italic r:id="rId7"/>
    </p:embeddedFont>
    <p:embeddedFont>
      <p:font typeface="標楷體" panose="03000509000000000000" pitchFamily="65" charset="-120"/>
      <p:regular r:id="rId8"/>
    </p:embeddedFont>
    <p:embeddedFont>
      <p:font typeface="新細明體" panose="02020500000000000000" pitchFamily="18" charset="-12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4B"/>
    <a:srgbClr val="009046"/>
    <a:srgbClr val="72BA46"/>
    <a:srgbClr val="A9D58E"/>
    <a:srgbClr val="008000"/>
    <a:srgbClr val="0000FF"/>
    <a:srgbClr val="DBDDDC"/>
    <a:srgbClr val="9B9A95"/>
    <a:srgbClr val="0099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93" autoAdjust="0"/>
    <p:restoredTop sz="88670" autoAdjust="0"/>
  </p:normalViewPr>
  <p:slideViewPr>
    <p:cSldViewPr>
      <p:cViewPr varScale="1">
        <p:scale>
          <a:sx n="61" d="100"/>
          <a:sy n="61" d="100"/>
        </p:scale>
        <p:origin x="690" y="72"/>
      </p:cViewPr>
      <p:guideLst>
        <p:guide orient="horz" pos="2160"/>
        <p:guide pos="39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25" d="100"/>
        <a:sy n="125" d="100"/>
      </p:scale>
      <p:origin x="0" y="-33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合併營收</a:t>
            </a:r>
            <a:endParaRPr lang="en-US" sz="1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091937009071347E-2"/>
                  <c:y val="-2.43902360955649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D09B-41CA-B17F-456C8D2E301A}"/>
                </c:ext>
              </c:extLst>
            </c:dLbl>
            <c:dLbl>
              <c:idx val="1"/>
              <c:layout>
                <c:manualLayout>
                  <c:x val="-4.3375759706904007E-2"/>
                  <c:y val="2.439023609556487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819015125235818E-2"/>
                      <c:h val="6.497981403885345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09B-41CA-B17F-456C8D2E301A}"/>
                </c:ext>
              </c:extLst>
            </c:dLbl>
            <c:dLbl>
              <c:idx val="2"/>
              <c:layout>
                <c:manualLayout>
                  <c:x val="-5.6577077878570581E-2"/>
                  <c:y val="-3.25203147940865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D09B-41CA-B17F-456C8D2E301A}"/>
                </c:ext>
              </c:extLst>
            </c:dLbl>
            <c:dLbl>
              <c:idx val="3"/>
              <c:layout>
                <c:manualLayout>
                  <c:x val="-5.2805272686665745E-2"/>
                  <c:y val="-2.43902360955649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D09B-41CA-B17F-456C8D2E301A}"/>
                </c:ext>
              </c:extLst>
            </c:dLbl>
            <c:dLbl>
              <c:idx val="4"/>
              <c:layout>
                <c:manualLayout>
                  <c:x val="-3.7718051919046966E-2"/>
                  <c:y val="-4.8780472191129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D09B-41CA-B17F-456C8D2E301A}"/>
                </c:ext>
              </c:extLst>
            </c:dLbl>
            <c:dLbl>
              <c:idx val="5"/>
              <c:layout>
                <c:manualLayout>
                  <c:x val="-1.3829792607372876E-16"/>
                  <c:y val="-4.87804721911298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D09B-41CA-B17F-456C8D2E301A}"/>
                </c:ext>
              </c:extLst>
            </c:dLbl>
            <c:dLbl>
              <c:idx val="6"/>
              <c:layout>
                <c:manualLayout>
                  <c:x val="-4.7147564898808843E-2"/>
                  <c:y val="4.0650393492608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D09B-41CA-B17F-456C8D2E301A}"/>
                </c:ext>
              </c:extLst>
            </c:dLbl>
            <c:dLbl>
              <c:idx val="7"/>
              <c:layout>
                <c:manualLayout>
                  <c:x val="0"/>
                  <c:y val="-3.6585354143347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D09B-41CA-B17F-456C8D2E301A}"/>
                </c:ext>
              </c:extLst>
            </c:dLbl>
            <c:dLbl>
              <c:idx val="8"/>
              <c:layout>
                <c:manualLayout>
                  <c:x val="-3.7718051919046962E-3"/>
                  <c:y val="5.69105508896514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D09B-41CA-B17F-456C8D2E301A}"/>
                </c:ext>
              </c:extLst>
            </c:dLbl>
            <c:dLbl>
              <c:idx val="11"/>
              <c:layout>
                <c:manualLayout>
                  <c:x val="-2.1909228857250732E-3"/>
                  <c:y val="-3.48097287435899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D09B-41CA-B17F-456C8D2E30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營收!$K$1:$V$1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營收!$K$2:$V$2</c:f>
              <c:numCache>
                <c:formatCode>_-* #,##0_-;\-* #,##0_-;_-* "-"??_-;_-@_-</c:formatCode>
                <c:ptCount val="12"/>
                <c:pt idx="0">
                  <c:v>4584077</c:v>
                </c:pt>
                <c:pt idx="1">
                  <c:v>4433501</c:v>
                </c:pt>
                <c:pt idx="2">
                  <c:v>4563812</c:v>
                </c:pt>
                <c:pt idx="3">
                  <c:v>4971704</c:v>
                </c:pt>
                <c:pt idx="4">
                  <c:v>4851240</c:v>
                </c:pt>
                <c:pt idx="5">
                  <c:v>5097758</c:v>
                </c:pt>
                <c:pt idx="6">
                  <c:v>4948817</c:v>
                </c:pt>
                <c:pt idx="7" formatCode="_(* #,##0.00_);_(* \(#,##0.00\);_(* &quot;-&quot;??_);_(@_)">
                  <c:v>5258259</c:v>
                </c:pt>
                <c:pt idx="8">
                  <c:v>4956666</c:v>
                </c:pt>
                <c:pt idx="9">
                  <c:v>5016805</c:v>
                </c:pt>
                <c:pt idx="10">
                  <c:v>4445132</c:v>
                </c:pt>
                <c:pt idx="11">
                  <c:v>4994112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D09B-41CA-B17F-456C8D2E30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4384176"/>
        <c:axId val="1074380848"/>
      </c:lineChart>
      <c:catAx>
        <c:axId val="1074384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sz="1600" b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貨幣單位：新台幣仟元</a:t>
                </a:r>
              </a:p>
            </c:rich>
          </c:tx>
          <c:layout>
            <c:manualLayout>
              <c:xMode val="edge"/>
              <c:yMode val="edge"/>
              <c:x val="6.2623304104926936E-3"/>
              <c:y val="2.642305094755553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74380848"/>
        <c:crosses val="autoZero"/>
        <c:auto val="1"/>
        <c:lblAlgn val="ctr"/>
        <c:lblOffset val="100"/>
        <c:noMultiLvlLbl val="0"/>
      </c:catAx>
      <c:valAx>
        <c:axId val="1074380848"/>
        <c:scaling>
          <c:orientation val="minMax"/>
          <c:max val="550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74384176"/>
        <c:crosses val="autoZero"/>
        <c:crossBetween val="between"/>
        <c:majorUnit val="500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合併營業毛利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1302672745245007E-2"/>
                  <c:y val="3.08134331262241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F11-4A63-AD79-18268CF89405}"/>
                </c:ext>
              </c:extLst>
            </c:dLbl>
            <c:dLbl>
              <c:idx val="1"/>
              <c:layout>
                <c:manualLayout>
                  <c:x val="-5.1724130128800477E-2"/>
                  <c:y val="-3.48331992960882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11-4A63-AD79-18268CF89405}"/>
                </c:ext>
              </c:extLst>
            </c:dLbl>
            <c:dLbl>
              <c:idx val="2"/>
              <c:layout>
                <c:manualLayout>
                  <c:x val="-4.0229878989067179E-2"/>
                  <c:y val="3.55604053978095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11-4A63-AD79-18268CF89405}"/>
                </c:ext>
              </c:extLst>
            </c:dLbl>
            <c:dLbl>
              <c:idx val="3"/>
              <c:layout>
                <c:manualLayout>
                  <c:x val="-4.9808421605511709E-2"/>
                  <c:y val="-2.70922781575500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11-4A63-AD79-18268CF89405}"/>
                </c:ext>
              </c:extLst>
            </c:dLbl>
            <c:dLbl>
              <c:idx val="4"/>
              <c:layout>
                <c:manualLayout>
                  <c:x val="-4.9808421605511709E-2"/>
                  <c:y val="-2.15435145430410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F11-4A63-AD79-18268CF89405}"/>
                </c:ext>
              </c:extLst>
            </c:dLbl>
            <c:dLbl>
              <c:idx val="5"/>
              <c:layout>
                <c:manualLayout>
                  <c:x val="0"/>
                  <c:y val="-3.08880183674263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11-4A63-AD79-18268CF89405}"/>
                </c:ext>
              </c:extLst>
            </c:dLbl>
            <c:dLbl>
              <c:idx val="6"/>
              <c:layout>
                <c:manualLayout>
                  <c:x val="-3.256704489591155E-2"/>
                  <c:y val="2.40240142857760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11-4A63-AD79-18268CF89405}"/>
                </c:ext>
              </c:extLst>
            </c:dLbl>
            <c:dLbl>
              <c:idx val="7"/>
              <c:layout>
                <c:manualLayout>
                  <c:x val="0"/>
                  <c:y val="-3.43200204082515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F11-4A63-AD79-18268CF89405}"/>
                </c:ext>
              </c:extLst>
            </c:dLbl>
            <c:dLbl>
              <c:idx val="8"/>
              <c:layout>
                <c:manualLayout>
                  <c:x val="-5.7471255698667194E-3"/>
                  <c:y val="5.83440346940275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F11-4A63-AD79-18268CF89405}"/>
                </c:ext>
              </c:extLst>
            </c:dLbl>
            <c:dLbl>
              <c:idx val="11"/>
              <c:layout>
                <c:manualLayout>
                  <c:x val="-2.2046161537606934E-3"/>
                  <c:y val="-2.71337372770546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F11-4A63-AD79-18268CF894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毛利!$K$1:$V$1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毛利!$K$2:$V$2</c:f>
              <c:numCache>
                <c:formatCode>_-* #,##0_-;\-* #,##0_-;_-* "-"??_-;_-@_-</c:formatCode>
                <c:ptCount val="12"/>
                <c:pt idx="0">
                  <c:v>1426796</c:v>
                </c:pt>
                <c:pt idx="1">
                  <c:v>1384314</c:v>
                </c:pt>
                <c:pt idx="2">
                  <c:v>1477018</c:v>
                </c:pt>
                <c:pt idx="3">
                  <c:v>1599287</c:v>
                </c:pt>
                <c:pt idx="4">
                  <c:v>1735468</c:v>
                </c:pt>
                <c:pt idx="5">
                  <c:v>1731070</c:v>
                </c:pt>
                <c:pt idx="6">
                  <c:v>1640196</c:v>
                </c:pt>
                <c:pt idx="7">
                  <c:v>1759583</c:v>
                </c:pt>
                <c:pt idx="8">
                  <c:v>1731003</c:v>
                </c:pt>
                <c:pt idx="9">
                  <c:v>1638307</c:v>
                </c:pt>
                <c:pt idx="10">
                  <c:v>1145466</c:v>
                </c:pt>
                <c:pt idx="11">
                  <c:v>1600993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BF11-4A63-AD79-18268CF894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8393584"/>
        <c:axId val="1168389008"/>
      </c:lineChart>
      <c:catAx>
        <c:axId val="1168393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zh-TW" sz="1600" b="1" i="0" baseline="0" dirty="0"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貨幣單位：新台幣仟元</a:t>
                </a:r>
                <a:endParaRPr lang="zh-TW" altLang="zh-TW" sz="1600" b="1" dirty="0"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c:rich>
          </c:tx>
          <c:layout>
            <c:manualLayout>
              <c:xMode val="edge"/>
              <c:yMode val="edge"/>
              <c:x val="0"/>
              <c:y val="1.6894498751129104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68389008"/>
        <c:crosses val="autoZero"/>
        <c:auto val="1"/>
        <c:lblAlgn val="ctr"/>
        <c:lblOffset val="100"/>
        <c:noMultiLvlLbl val="0"/>
      </c:catAx>
      <c:valAx>
        <c:axId val="116838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68393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1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合併稅後淨利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1025435071858596E-2"/>
                  <c:y val="-7.48306190751725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04A1-4F7A-BA26-7A1314515ED5}"/>
                </c:ext>
              </c:extLst>
            </c:dLbl>
            <c:dLbl>
              <c:idx val="2"/>
              <c:layout>
                <c:manualLayout>
                  <c:x val="-6.3613947013928973E-2"/>
                  <c:y val="-5.055141201750653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04A1-4F7A-BA26-7A1314515ED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稅後淨利!$K$1:$V$1</c:f>
              <c:strCache>
                <c:ptCount val="12"/>
                <c:pt idx="0">
                  <c:v>2023Q1</c:v>
                </c:pt>
                <c:pt idx="1">
                  <c:v>2023Q2</c:v>
                </c:pt>
                <c:pt idx="2">
                  <c:v>2023Q3</c:v>
                </c:pt>
                <c:pt idx="3">
                  <c:v>2023Q4</c:v>
                </c:pt>
                <c:pt idx="4">
                  <c:v>2024Q1</c:v>
                </c:pt>
                <c:pt idx="5">
                  <c:v>2024Q2</c:v>
                </c:pt>
                <c:pt idx="6">
                  <c:v>2024Q3</c:v>
                </c:pt>
                <c:pt idx="7">
                  <c:v>2024Q4</c:v>
                </c:pt>
                <c:pt idx="8">
                  <c:v>2025Q1</c:v>
                </c:pt>
                <c:pt idx="9">
                  <c:v>2025Q2</c:v>
                </c:pt>
                <c:pt idx="10">
                  <c:v>2025Q3</c:v>
                </c:pt>
                <c:pt idx="11">
                  <c:v>2025Q4</c:v>
                </c:pt>
              </c:strCache>
            </c:strRef>
          </c:cat>
          <c:val>
            <c:numRef>
              <c:f>稅後淨利!$K$2:$V$2</c:f>
              <c:numCache>
                <c:formatCode>_-* #,##0_-;\-* #,##0_-;_-* "-"??_-;_-@_-</c:formatCode>
                <c:ptCount val="12"/>
                <c:pt idx="0">
                  <c:v>452378</c:v>
                </c:pt>
                <c:pt idx="1">
                  <c:v>627364</c:v>
                </c:pt>
                <c:pt idx="2">
                  <c:v>622161</c:v>
                </c:pt>
                <c:pt idx="3">
                  <c:v>645069</c:v>
                </c:pt>
                <c:pt idx="4">
                  <c:v>885717</c:v>
                </c:pt>
                <c:pt idx="5">
                  <c:v>813414</c:v>
                </c:pt>
                <c:pt idx="6">
                  <c:v>643562</c:v>
                </c:pt>
                <c:pt idx="7">
                  <c:v>813303</c:v>
                </c:pt>
                <c:pt idx="8">
                  <c:v>833763</c:v>
                </c:pt>
                <c:pt idx="9">
                  <c:v>75686</c:v>
                </c:pt>
                <c:pt idx="10">
                  <c:v>556004</c:v>
                </c:pt>
                <c:pt idx="11">
                  <c:v>855081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A1-4F7A-BA26-7A1314515E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8389840"/>
        <c:axId val="1168394000"/>
      </c:lineChart>
      <c:catAx>
        <c:axId val="11683898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+mn-cs"/>
                  </a:defRPr>
                </a:pPr>
                <a:r>
                  <a:rPr lang="zh-TW" altLang="zh-TW" sz="1600" b="1" i="0" baseline="0"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貨幣單位：新台幣仟元</a:t>
                </a:r>
                <a:endParaRPr lang="zh-TW" altLang="zh-TW" sz="1600" b="1"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c:rich>
          </c:tx>
          <c:layout>
            <c:manualLayout>
              <c:xMode val="edge"/>
              <c:yMode val="edge"/>
              <c:x val="1.5661298321630859E-4"/>
              <c:y val="4.5121019520401361E-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68394000"/>
        <c:crosses val="autoZero"/>
        <c:auto val="1"/>
        <c:lblAlgn val="ctr"/>
        <c:lblOffset val="100"/>
        <c:noMultiLvlLbl val="0"/>
      </c:catAx>
      <c:valAx>
        <c:axId val="116839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68389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556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kumimoji="0" sz="12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3387" cy="4556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kumimoji="0" sz="12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434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7825" y="682625"/>
            <a:ext cx="6100763" cy="3432175"/>
          </a:xfrm>
          <a:prstGeom prst="rect">
            <a:avLst/>
          </a:prstGeom>
          <a:noFill/>
          <a:ln w="9525">
            <a:noFill/>
            <a:miter lim="800000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341813"/>
            <a:ext cx="5029200" cy="41163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0213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kumimoji="0" sz="12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buNone/>
              <a:defRPr kumimoji="0"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005D9D54-710E-47A3-9BA2-FD845380FAD5}" type="slidenum">
              <a:rPr lang="zh-TW" altLang="en-US"/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F17F36-F88F-45F7-8D86-ECAD7EBEF259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6860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94DD75-46A3-4FDF-A862-28D35E8414FD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9041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B95F3-E721-416C-B842-C96E8FB36DDE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898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CAB648-A307-4119-8118-BC4ACE20BAC5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0472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BAFCC7-FE53-4E8A-9C5D-A2484E8C423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3241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545E8A-8B26-4479-B9BD-1ADEA2E5C887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1598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734888-688E-4890-9CFE-1F8C17441215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01225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C914AB-E08E-4090-B4A0-28B60176C145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9078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1D8545-D2A6-4ED4-9898-3F79052BB30A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7432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7E48C6-E7EE-4083-AF24-72052DE2889C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62861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B080D3-B28D-48BA-BC14-4D343F0370C4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5768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10B9C-BCA3-496F-B822-EA56E49B8203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0915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F17F36-F88F-45F7-8D86-ECAD7EBEF259}" type="slidenum">
              <a:rPr lang="en-US" altLang="zh-TW" smtClean="0"/>
              <a:t>1</a:t>
            </a:fld>
            <a:endParaRPr lang="en-US" altLang="zh-TW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F1FD1D-6818-4BDD-B78D-47B04025E566}"/>
              </a:ext>
            </a:extLst>
          </p:cNvPr>
          <p:cNvSpPr/>
          <p:nvPr/>
        </p:nvSpPr>
        <p:spPr>
          <a:xfrm>
            <a:off x="-24680" y="336138"/>
            <a:ext cx="5904656" cy="576064"/>
          </a:xfrm>
          <a:prstGeom prst="rect">
            <a:avLst/>
          </a:prstGeom>
          <a:solidFill>
            <a:srgbClr val="009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zh-TW" sz="2800" dirty="0" smtClean="0"/>
              <a:t>2023Q1-2025Q4 </a:t>
            </a:r>
            <a:r>
              <a:rPr lang="zh-TW" altLang="en-US" sz="2800" dirty="0"/>
              <a:t>帝寶工業合併營收</a:t>
            </a:r>
          </a:p>
        </p:txBody>
      </p:sp>
      <p:graphicFrame>
        <p:nvGraphicFramePr>
          <p:cNvPr id="5" name="圖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5497847"/>
              </p:ext>
            </p:extLst>
          </p:nvPr>
        </p:nvGraphicFramePr>
        <p:xfrm>
          <a:off x="191344" y="1052736"/>
          <a:ext cx="11593288" cy="5472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299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F17F36-F88F-45F7-8D86-ECAD7EBEF259}" type="slidenum">
              <a:rPr lang="en-US" altLang="zh-TW" smtClean="0"/>
              <a:t>2</a:t>
            </a:fld>
            <a:endParaRPr lang="en-US" altLang="zh-TW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F1FD1D-6818-4BDD-B78D-47B04025E566}"/>
              </a:ext>
            </a:extLst>
          </p:cNvPr>
          <p:cNvSpPr/>
          <p:nvPr/>
        </p:nvSpPr>
        <p:spPr>
          <a:xfrm>
            <a:off x="-24680" y="336138"/>
            <a:ext cx="7272808" cy="576064"/>
          </a:xfrm>
          <a:prstGeom prst="rect">
            <a:avLst/>
          </a:prstGeom>
          <a:solidFill>
            <a:srgbClr val="009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zh-TW" sz="2800" dirty="0" smtClean="0"/>
              <a:t>2023Q1-2025Q4 </a:t>
            </a:r>
            <a:r>
              <a:rPr lang="zh-TW" altLang="en-US" sz="2800" dirty="0"/>
              <a:t>帝寶工業合併營業毛利</a:t>
            </a:r>
            <a:endParaRPr lang="en-US" altLang="zh-TW" sz="2800" dirty="0"/>
          </a:p>
        </p:txBody>
      </p:sp>
      <p:graphicFrame>
        <p:nvGraphicFramePr>
          <p:cNvPr id="5" name="圖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1348491"/>
              </p:ext>
            </p:extLst>
          </p:nvPr>
        </p:nvGraphicFramePr>
        <p:xfrm>
          <a:off x="263352" y="1052736"/>
          <a:ext cx="11521280" cy="5616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17550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F17F36-F88F-45F7-8D86-ECAD7EBEF259}" type="slidenum">
              <a:rPr lang="en-US" altLang="zh-TW" smtClean="0"/>
              <a:t>3</a:t>
            </a:fld>
            <a:endParaRPr lang="en-US" altLang="zh-TW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F1FD1D-6818-4BDD-B78D-47B04025E566}"/>
              </a:ext>
            </a:extLst>
          </p:cNvPr>
          <p:cNvSpPr/>
          <p:nvPr/>
        </p:nvSpPr>
        <p:spPr>
          <a:xfrm>
            <a:off x="-24680" y="336138"/>
            <a:ext cx="6840760" cy="576064"/>
          </a:xfrm>
          <a:prstGeom prst="rect">
            <a:avLst/>
          </a:prstGeom>
          <a:solidFill>
            <a:srgbClr val="0090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en-US" altLang="zh-TW" sz="2800" dirty="0" smtClean="0"/>
              <a:t>2023Q1-2025Q4</a:t>
            </a:r>
            <a:r>
              <a:rPr lang="zh-TW" altLang="en-US" sz="2800" dirty="0" smtClean="0"/>
              <a:t>帝</a:t>
            </a:r>
            <a:r>
              <a:rPr lang="zh-TW" altLang="en-US" sz="2800" dirty="0"/>
              <a:t>寶工業合併稅後淨利</a:t>
            </a:r>
            <a:endParaRPr lang="en-US" altLang="zh-TW" sz="2800" dirty="0"/>
          </a:p>
        </p:txBody>
      </p:sp>
      <p:graphicFrame>
        <p:nvGraphicFramePr>
          <p:cNvPr id="5" name="圖表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9413221"/>
              </p:ext>
            </p:extLst>
          </p:nvPr>
        </p:nvGraphicFramePr>
        <p:xfrm>
          <a:off x="335360" y="1124744"/>
          <a:ext cx="11377264" cy="5472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63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3492</TotalTime>
  <Words>63</Words>
  <Application>Microsoft Office PowerPoint</Application>
  <PresentationFormat>寬螢幕</PresentationFormat>
  <Paragraphs>24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Calibri Light</vt:lpstr>
      <vt:lpstr>標楷體</vt:lpstr>
      <vt:lpstr>Times New Roman</vt:lpstr>
      <vt:lpstr>新細明體</vt:lpstr>
      <vt:lpstr>Calibri</vt:lpstr>
      <vt:lpstr>Arial</vt:lpstr>
      <vt:lpstr>Office 佈景主題</vt:lpstr>
      <vt:lpstr>PowerPoint 簡報</vt:lpstr>
      <vt:lpstr>PowerPoint 簡報</vt:lpstr>
      <vt:lpstr>PowerPoint 簡報</vt:lpstr>
    </vt:vector>
  </TitlesOfParts>
  <Company>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wuglor1</dc:creator>
  <cp:lastModifiedBy>admin</cp:lastModifiedBy>
  <cp:revision>1115</cp:revision>
  <dcterms:created xsi:type="dcterms:W3CDTF">2009-09-24T10:06:00Z</dcterms:created>
  <dcterms:modified xsi:type="dcterms:W3CDTF">2026-05-25T07:27:57Z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1033-11.2.0.9127</vt:lpwstr>
  </property>
</Properties>
</file>